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Karnchang SemiCondensed Bold" panose="020B0604020202020204" charset="-34"/>
      <p:regular r:id="rId18"/>
    </p:embeddedFont>
    <p:embeddedFont>
      <p:font typeface="Muli" panose="020B0604020202020204" charset="0"/>
      <p:regular r:id="rId19"/>
    </p:embeddedFont>
    <p:embeddedFont>
      <p:font typeface="Muli Bold" panose="020B0604020202020204" charset="0"/>
      <p:regular r:id="rId20"/>
    </p:embeddedFont>
    <p:embeddedFont>
      <p:font typeface="Quark" panose="020B0604020202020204" charset="0"/>
      <p:regular r:id="rId21"/>
    </p:embeddedFont>
    <p:embeddedFont>
      <p:font typeface="Quark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24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042557" y="-380448"/>
            <a:ext cx="3086100" cy="7022063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042557" y="-3396291"/>
            <a:ext cx="3086100" cy="6792583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65436" y="847725"/>
            <a:ext cx="8028307" cy="337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2"/>
              </a:lnSpc>
            </a:pPr>
            <a:r>
              <a:rPr lang="en-US" sz="5972" b="1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IMPROVING CROSS-SECTIONAL MOMENTUM: Residual Momentum and Volatility Targeting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5436" y="4383405"/>
            <a:ext cx="8653460" cy="1839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FINANCIAL MARKETS ANALYTICS - A.Y. 2025-2026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259300" y="-380448"/>
            <a:ext cx="3086100" cy="7022063"/>
            <a:chOff x="0" y="0"/>
            <a:chExt cx="812800" cy="18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-3396291"/>
            <a:ext cx="3086100" cy="6792583"/>
            <a:chOff x="0" y="0"/>
            <a:chExt cx="812800" cy="178899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95952" y="6432551"/>
            <a:ext cx="10693020" cy="190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7"/>
              </a:lnSpc>
              <a:spcBef>
                <a:spcPct val="0"/>
              </a:spcBef>
            </a:pPr>
            <a:r>
              <a:rPr lang="en-US" sz="2934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Can plain cross-sectional momentum be improved by reducing:</a:t>
            </a:r>
          </a:p>
          <a:p>
            <a:pPr marL="633501" lvl="1" indent="-316750" algn="ctr">
              <a:lnSpc>
                <a:spcPts val="4107"/>
              </a:lnSpc>
              <a:spcBef>
                <a:spcPct val="0"/>
              </a:spcBef>
              <a:buFont typeface="Arial"/>
              <a:buChar char="•"/>
            </a:pPr>
            <a:r>
              <a:rPr lang="en-US" sz="2934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systematic factor exposure;</a:t>
            </a:r>
          </a:p>
          <a:p>
            <a:pPr marL="633501" lvl="1" indent="-316750" algn="ctr">
              <a:lnSpc>
                <a:spcPts val="4107"/>
              </a:lnSpc>
              <a:spcBef>
                <a:spcPct val="0"/>
              </a:spcBef>
              <a:buFont typeface="Arial"/>
              <a:buChar char="•"/>
            </a:pPr>
            <a:r>
              <a:rPr lang="en-US" sz="2934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momentum crash risk?</a:t>
            </a:r>
          </a:p>
          <a:p>
            <a:pPr algn="ctr">
              <a:lnSpc>
                <a:spcPts val="2847"/>
              </a:lnSpc>
              <a:spcBef>
                <a:spcPct val="0"/>
              </a:spcBef>
            </a:pPr>
            <a:endParaRPr lang="en-US" sz="2934">
              <a:solidFill>
                <a:srgbClr val="17415F"/>
              </a:solidFill>
              <a:latin typeface="Quark"/>
              <a:ea typeface="Quark"/>
              <a:cs typeface="Quark"/>
              <a:sym typeface="Quar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947893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65436" y="3387743"/>
            <a:ext cx="14723178" cy="588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77"/>
              </a:lnSpc>
            </a:pPr>
            <a:r>
              <a:rPr lang="en-US" sz="3298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PLAIN MOMENTUM IS SIMPLE AND WELL-KNOWN:</a:t>
            </a:r>
          </a:p>
          <a:p>
            <a:pPr marL="712049" lvl="1" indent="-356024" algn="l">
              <a:lnSpc>
                <a:spcPts val="5177"/>
              </a:lnSpc>
              <a:buFont typeface="Arial"/>
              <a:buChar char="•"/>
            </a:pPr>
            <a:r>
              <a:rPr lang="en-US" sz="3298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buy recent winners</a:t>
            </a:r>
          </a:p>
          <a:p>
            <a:pPr marL="712049" lvl="1" indent="-356024" algn="l">
              <a:lnSpc>
                <a:spcPts val="5177"/>
              </a:lnSpc>
              <a:buFont typeface="Arial"/>
              <a:buChar char="•"/>
            </a:pPr>
            <a:r>
              <a:rPr lang="en-US" sz="3298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short recent losers</a:t>
            </a:r>
          </a:p>
          <a:p>
            <a:pPr marL="712049" lvl="1" indent="-356024" algn="l">
              <a:lnSpc>
                <a:spcPts val="5177"/>
              </a:lnSpc>
              <a:buFont typeface="Arial"/>
              <a:buChar char="•"/>
            </a:pPr>
            <a:r>
              <a:rPr lang="en-US" sz="3298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exploit return continuation</a:t>
            </a:r>
          </a:p>
          <a:p>
            <a:pPr algn="l">
              <a:lnSpc>
                <a:spcPts val="5177"/>
              </a:lnSpc>
            </a:pPr>
            <a:r>
              <a:rPr lang="en-US" sz="3298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BUT IT HAS TWO MAIN WEAKNESSES:</a:t>
            </a:r>
          </a:p>
          <a:p>
            <a:pPr marL="712049" lvl="1" indent="-356024" algn="l">
              <a:lnSpc>
                <a:spcPts val="5177"/>
              </a:lnSpc>
              <a:buFont typeface="Arial"/>
              <a:buChar char="•"/>
            </a:pPr>
            <a:r>
              <a:rPr lang="en-US" sz="3298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exposure to common risk factors</a:t>
            </a:r>
          </a:p>
          <a:p>
            <a:pPr marL="712049" lvl="1" indent="-356024" algn="l">
              <a:lnSpc>
                <a:spcPts val="5177"/>
              </a:lnSpc>
              <a:buFont typeface="Arial"/>
              <a:buChar char="•"/>
            </a:pPr>
            <a:r>
              <a:rPr lang="en-US" sz="3298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severe loss during momentum crashes</a:t>
            </a:r>
          </a:p>
          <a:p>
            <a:pPr algn="l">
              <a:lnSpc>
                <a:spcPts val="5177"/>
              </a:lnSpc>
            </a:pPr>
            <a:r>
              <a:rPr lang="en-US" sz="3298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GOAL OF THE PROJECT:</a:t>
            </a:r>
          </a:p>
          <a:p>
            <a:pPr algn="l">
              <a:lnSpc>
                <a:spcPts val="5177"/>
              </a:lnSpc>
            </a:pPr>
            <a:r>
              <a:rPr lang="en-US" sz="3298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Test wheter refined momentum strategies improve the risk profile of plain momentum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76047" y="3860760"/>
            <a:ext cx="4183253" cy="4114800"/>
          </a:xfrm>
          <a:custGeom>
            <a:avLst/>
            <a:gdLst/>
            <a:ahLst/>
            <a:cxnLst/>
            <a:rect l="l" t="t" r="r" b="b"/>
            <a:pathLst>
              <a:path w="4183253" h="4114800">
                <a:moveTo>
                  <a:pt x="0" y="0"/>
                </a:moveTo>
                <a:lnTo>
                  <a:pt x="4183253" y="0"/>
                </a:lnTo>
                <a:lnTo>
                  <a:pt x="41832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65436" y="556799"/>
            <a:ext cx="14489376" cy="2472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Motivations: Why Plain Momentum Needs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565436" y="3746899"/>
            <a:ext cx="11891487" cy="544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DATASET</a:t>
            </a:r>
          </a:p>
          <a:p>
            <a:pPr algn="just">
              <a:lnSpc>
                <a:spcPts val="3919"/>
              </a:lnSpc>
            </a:pPr>
            <a:endParaRPr lang="en-US" sz="2799" b="1">
              <a:solidFill>
                <a:srgbClr val="17415F"/>
              </a:solidFill>
              <a:latin typeface="Quark Bold"/>
              <a:ea typeface="Quark Bold"/>
              <a:cs typeface="Quark Bold"/>
              <a:sym typeface="Quark Bold"/>
            </a:endParaRP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S&amp;P 500 Securities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Monthly price data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Sample period: December 1990 - November 2018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Price matrix: 336 monthly observations and 1355 securities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Average active securities: approximately 501.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Important choice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The investable universe is defined using historical S&amp;P 500 weights, not only price availability.</a:t>
            </a:r>
          </a:p>
          <a:p>
            <a:pPr algn="l">
              <a:lnSpc>
                <a:spcPts val="3919"/>
              </a:lnSpc>
            </a:pPr>
            <a:endParaRPr lang="en-US" sz="2799" b="1">
              <a:solidFill>
                <a:srgbClr val="17415F"/>
              </a:solidFill>
              <a:latin typeface="Quark Bold"/>
              <a:ea typeface="Quark Bold"/>
              <a:cs typeface="Quark Bold"/>
              <a:sym typeface="Quark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flipH="1">
            <a:off x="13457650" y="6399007"/>
            <a:ext cx="4153777" cy="2673522"/>
          </a:xfrm>
          <a:custGeom>
            <a:avLst/>
            <a:gdLst/>
            <a:ahLst/>
            <a:cxnLst/>
            <a:rect l="l" t="t" r="r" b="b"/>
            <a:pathLst>
              <a:path w="4153777" h="2673522">
                <a:moveTo>
                  <a:pt x="4153777" y="0"/>
                </a:moveTo>
                <a:lnTo>
                  <a:pt x="0" y="0"/>
                </a:lnTo>
                <a:lnTo>
                  <a:pt x="0" y="2673522"/>
                </a:lnTo>
                <a:lnTo>
                  <a:pt x="4153777" y="2673522"/>
                </a:lnTo>
                <a:lnTo>
                  <a:pt x="41537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65436" y="850989"/>
            <a:ext cx="6698332" cy="2472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DATASET AND DATA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1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F0F7FE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F0F7FE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294283" y="6594549"/>
            <a:ext cx="2168388" cy="3223280"/>
          </a:xfrm>
          <a:custGeom>
            <a:avLst/>
            <a:gdLst/>
            <a:ahLst/>
            <a:cxnLst/>
            <a:rect l="l" t="t" r="r" b="b"/>
            <a:pathLst>
              <a:path w="2168388" h="3223280">
                <a:moveTo>
                  <a:pt x="0" y="0"/>
                </a:moveTo>
                <a:lnTo>
                  <a:pt x="2168388" y="0"/>
                </a:lnTo>
                <a:lnTo>
                  <a:pt x="2168388" y="3223280"/>
                </a:lnTo>
                <a:lnTo>
                  <a:pt x="0" y="32232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65436" y="3952201"/>
            <a:ext cx="12728847" cy="2495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74"/>
              </a:lnSpc>
            </a:pPr>
            <a:r>
              <a:rPr lang="en-US" sz="2838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Main data issues identified</a:t>
            </a:r>
          </a:p>
          <a:p>
            <a:pPr marL="612929" lvl="1" indent="-306465" algn="l">
              <a:lnSpc>
                <a:spcPts val="3974"/>
              </a:lnSpc>
              <a:buFont typeface="Arial"/>
              <a:buChar char="•"/>
            </a:pPr>
            <a:r>
              <a:rPr lang="en-US" sz="2838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663 stocks show suspected post-exit stale prices</a:t>
            </a:r>
          </a:p>
          <a:p>
            <a:pPr marL="612929" lvl="1" indent="-306465" algn="l">
              <a:lnSpc>
                <a:spcPts val="3974"/>
              </a:lnSpc>
              <a:buFont typeface="Arial"/>
              <a:buChar char="•"/>
            </a:pPr>
            <a:r>
              <a:rPr lang="en-US" sz="2838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Stale price rule: at least 6 consecutive months of zero log-returns after index exit</a:t>
            </a:r>
          </a:p>
          <a:p>
            <a:pPr marL="612929" lvl="1" indent="-306465" algn="l">
              <a:lnSpc>
                <a:spcPts val="3974"/>
              </a:lnSpc>
              <a:buFont typeface="Arial"/>
              <a:buChar char="•"/>
            </a:pPr>
            <a:r>
              <a:rPr lang="en-US" sz="2838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170 normalized company names are linked to more than one ticker historically</a:t>
            </a:r>
          </a:p>
          <a:p>
            <a:pPr marL="612929" lvl="1" indent="-306465" algn="l">
              <a:lnSpc>
                <a:spcPts val="3974"/>
              </a:lnSpc>
              <a:buFont typeface="Arial"/>
              <a:buChar char="•"/>
            </a:pPr>
            <a:r>
              <a:rPr lang="en-US" sz="2838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10 companies have simultaneous duplicate active securities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65436" y="850989"/>
            <a:ext cx="13578380" cy="2472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Cleaning Issues: Stale Prices and Duplicate Securities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5436" y="6898750"/>
            <a:ext cx="11891487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Backtest decision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Use historical weights to identify active constituents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Keep the analysis at security level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Report duplicates as a limitation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328090" y="6594872"/>
            <a:ext cx="1975541" cy="3186356"/>
          </a:xfrm>
          <a:custGeom>
            <a:avLst/>
            <a:gdLst/>
            <a:ahLst/>
            <a:cxnLst/>
            <a:rect l="l" t="t" r="r" b="b"/>
            <a:pathLst>
              <a:path w="1975541" h="3186356">
                <a:moveTo>
                  <a:pt x="0" y="0"/>
                </a:moveTo>
                <a:lnTo>
                  <a:pt x="1975541" y="0"/>
                </a:lnTo>
                <a:lnTo>
                  <a:pt x="1975541" y="3186356"/>
                </a:lnTo>
                <a:lnTo>
                  <a:pt x="0" y="3186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65436" y="850989"/>
            <a:ext cx="12762654" cy="2472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PLAIN 12-1 Cross-Sectional Momentum Baseline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65436" y="3584297"/>
            <a:ext cx="11891487" cy="5001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it-IT" sz="2800" dirty="0"/>
              <a:t>Momentum </a:t>
            </a:r>
            <a:r>
              <a:rPr lang="it-IT" sz="2800" dirty="0" err="1"/>
              <a:t>signal</a:t>
            </a:r>
            <a:r>
              <a:rPr lang="it-IT" sz="2800" dirty="0"/>
              <a:t>:</a:t>
            </a:r>
            <a:br>
              <a:rPr lang="it-IT" sz="2800" dirty="0"/>
            </a:br>
            <a:r>
              <a:rPr lang="it-IT" sz="2800" b="1" dirty="0"/>
              <a:t>M(</a:t>
            </a:r>
            <a:r>
              <a:rPr lang="it-IT" sz="2800" b="1" dirty="0" err="1"/>
              <a:t>i,t</a:t>
            </a:r>
            <a:r>
              <a:rPr lang="it-IT" sz="2800" b="1" dirty="0"/>
              <a:t>) = P(i,t−1) / P(i,t−12) − 1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Skip the most recent month.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Rank all eligible stocks cross-sectionally.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Long top 10% winners.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Short bottom 10% losers.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Equal-weighted long-short portfolio.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17415F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919"/>
              </a:lnSpc>
            </a:pPr>
            <a:r>
              <a:rPr lang="en-US" sz="2799" b="1" dirty="0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Role in the project</a:t>
            </a:r>
          </a:p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plain momentum is the benchmark strategy to improve.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10066414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3834100" y="6666572"/>
            <a:ext cx="2807352" cy="3088087"/>
          </a:xfrm>
          <a:custGeom>
            <a:avLst/>
            <a:gdLst/>
            <a:ahLst/>
            <a:cxnLst/>
            <a:rect l="l" t="t" r="r" b="b"/>
            <a:pathLst>
              <a:path w="2807352" h="3088087">
                <a:moveTo>
                  <a:pt x="0" y="0"/>
                </a:moveTo>
                <a:lnTo>
                  <a:pt x="2807352" y="0"/>
                </a:lnTo>
                <a:lnTo>
                  <a:pt x="2807352" y="3088087"/>
                </a:lnTo>
                <a:lnTo>
                  <a:pt x="0" y="30880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65436" y="850989"/>
            <a:ext cx="12762654" cy="144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FF5 RESIDUAL MOMENTUM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65436" y="2660409"/>
            <a:ext cx="11891487" cy="700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 dirty="0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Objective</a:t>
            </a:r>
          </a:p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Reduce exposure to systematic risk factors.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17415F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919"/>
              </a:lnSpc>
            </a:pPr>
            <a:r>
              <a:rPr lang="en-US" sz="2799" b="1" dirty="0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Method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Estimate rolling </a:t>
            </a:r>
            <a:r>
              <a:rPr lang="en-US" sz="2799" dirty="0" err="1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Fama</a:t>
            </a: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-French 5-factor regressions.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Rolling window: 36 months.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Minimum observations: 24.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Extract residual returns.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Compute residual momentum signal:</a:t>
            </a:r>
          </a:p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Residual momentum </a:t>
            </a:r>
            <a:r>
              <a:rPr lang="en-US" sz="2799" err="1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signal</a:t>
            </a: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: M</a:t>
            </a:r>
            <a:r>
              <a:rPr lang="en-US" sz="2799" dirty="0" err="1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_RES</a:t>
            </a: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(</a:t>
            </a:r>
            <a:r>
              <a:rPr lang="en-US" sz="2799" dirty="0" err="1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i,t</a:t>
            </a: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) = mean residuals / residual volatility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17415F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919"/>
              </a:lnSpc>
            </a:pPr>
            <a:r>
              <a:rPr lang="en-US" sz="2799" b="1" dirty="0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Interpretation</a:t>
            </a:r>
          </a:p>
          <a:p>
            <a:pPr algn="just">
              <a:lnSpc>
                <a:spcPts val="3919"/>
              </a:lnSpc>
            </a:pPr>
            <a:r>
              <a:rPr lang="en-US" sz="2799" dirty="0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Momentum is computed on stock-specific residual performance, not on raw returns.</a:t>
            </a:r>
          </a:p>
          <a:p>
            <a:pPr algn="just">
              <a:lnSpc>
                <a:spcPts val="3919"/>
              </a:lnSpc>
            </a:pPr>
            <a:endParaRPr lang="en-US" sz="2799" dirty="0">
              <a:solidFill>
                <a:srgbClr val="17415F"/>
              </a:solidFill>
              <a:latin typeface="Quark"/>
              <a:ea typeface="Quark"/>
              <a:cs typeface="Quark"/>
              <a:sym typeface="Quar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F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273189" y="6563934"/>
            <a:ext cx="1862901" cy="3004680"/>
          </a:xfrm>
          <a:custGeom>
            <a:avLst/>
            <a:gdLst/>
            <a:ahLst/>
            <a:cxnLst/>
            <a:rect l="l" t="t" r="r" b="b"/>
            <a:pathLst>
              <a:path w="1862901" h="3004680">
                <a:moveTo>
                  <a:pt x="0" y="0"/>
                </a:moveTo>
                <a:lnTo>
                  <a:pt x="1862902" y="0"/>
                </a:lnTo>
                <a:lnTo>
                  <a:pt x="1862902" y="3004680"/>
                </a:lnTo>
                <a:lnTo>
                  <a:pt x="0" y="3004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269006" y="1996465"/>
            <a:ext cx="8221444" cy="4567469"/>
          </a:xfrm>
          <a:custGeom>
            <a:avLst/>
            <a:gdLst/>
            <a:ahLst/>
            <a:cxnLst/>
            <a:rect l="l" t="t" r="r" b="b"/>
            <a:pathLst>
              <a:path w="8221444" h="4567469">
                <a:moveTo>
                  <a:pt x="0" y="0"/>
                </a:moveTo>
                <a:lnTo>
                  <a:pt x="8221444" y="0"/>
                </a:lnTo>
                <a:lnTo>
                  <a:pt x="8221444" y="4567469"/>
                </a:lnTo>
                <a:lnTo>
                  <a:pt x="0" y="4567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05327" y="556799"/>
            <a:ext cx="12822954" cy="2472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VOLATILITY-TARGETED MOMENTUM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5327" y="3319145"/>
            <a:ext cx="11891487" cy="593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OBJECTIVE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Reduce momentum crash risk.</a:t>
            </a:r>
          </a:p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Method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Keep the plain momentum signal unchanged.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Estimate trailing 6-month realized volatility.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Scale exposure toward a 10% annual volatility target.</a:t>
            </a:r>
          </a:p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Two versions tested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Standard volatility targeting with maximum leverage of 2.0.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No-leverage volatility targeting with exposure capped at 1.0.</a:t>
            </a:r>
          </a:p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Preferred version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The no-leverage version is more consistent with crash protection.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17415F"/>
              </a:solidFill>
              <a:latin typeface="Quark"/>
              <a:ea typeface="Quark"/>
              <a:cs typeface="Quark"/>
              <a:sym typeface="Quar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1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F0F7FE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F0F7FE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189906" y="7229219"/>
            <a:ext cx="2725960" cy="2527708"/>
          </a:xfrm>
          <a:custGeom>
            <a:avLst/>
            <a:gdLst/>
            <a:ahLst/>
            <a:cxnLst/>
            <a:rect l="l" t="t" r="r" b="b"/>
            <a:pathLst>
              <a:path w="2725960" h="2527708">
                <a:moveTo>
                  <a:pt x="0" y="0"/>
                </a:moveTo>
                <a:lnTo>
                  <a:pt x="2725960" y="0"/>
                </a:lnTo>
                <a:lnTo>
                  <a:pt x="2725960" y="2527709"/>
                </a:lnTo>
                <a:lnTo>
                  <a:pt x="0" y="2527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65436" y="850989"/>
            <a:ext cx="12430329" cy="144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Combined Strategy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50423" y="2508649"/>
            <a:ext cx="11891487" cy="6434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Combined refinement</a:t>
            </a:r>
          </a:p>
          <a:p>
            <a:pPr algn="just">
              <a:lnSpc>
                <a:spcPts val="3919"/>
              </a:lnSpc>
            </a:pPr>
            <a:endParaRPr lang="en-US" sz="2799" b="1">
              <a:solidFill>
                <a:srgbClr val="FFFFFF"/>
              </a:solidFill>
              <a:latin typeface="Quark Bold"/>
              <a:ea typeface="Quark Bold"/>
              <a:cs typeface="Quark Bold"/>
              <a:sym typeface="Quark Bold"/>
            </a:endParaR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FF5 residual momentum + no-leverage volatility targeting.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Why combine them?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Residual momentum addresses factor exposure.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Volatility targeting addresses crash risk.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No-leverage cap avoids increasing exposure before sudden crashes.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endParaRPr lang="en-US" sz="2799">
              <a:solidFill>
                <a:srgbClr val="FFFFFF"/>
              </a:solidFill>
              <a:latin typeface="Quark"/>
              <a:ea typeface="Quark"/>
              <a:cs typeface="Quark"/>
              <a:sym typeface="Quark"/>
            </a:endParaRPr>
          </a:p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Final comparison sample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June 1994 – November 2018.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Quark"/>
                <a:ea typeface="Quark"/>
                <a:cs typeface="Quark"/>
                <a:sym typeface="Quark"/>
              </a:rPr>
              <a:t>294 monthly observations.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Quark"/>
              <a:ea typeface="Quark"/>
              <a:cs typeface="Quark"/>
              <a:sym typeface="Quar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871835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806958"/>
              </p:ext>
            </p:extLst>
          </p:nvPr>
        </p:nvGraphicFramePr>
        <p:xfrm>
          <a:off x="3189639" y="3334745"/>
          <a:ext cx="10164296" cy="4781551"/>
        </p:xfrm>
        <a:graphic>
          <a:graphicData uri="http://schemas.openxmlformats.org/drawingml/2006/table">
            <a:tbl>
              <a:tblPr/>
              <a:tblGrid>
                <a:gridCol w="2541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1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1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1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493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Strategy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Ann. Return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CAGR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Ann. Volatility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493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Plain MOM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2.59%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-2.47%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29.82%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6527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FF5 Residual MOM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-1.34%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-2.54%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15.56%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2579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Plain MOM VT No-Lev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2.04%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sym typeface="Muli"/>
                        </a:rPr>
                        <a:t>0.54%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16.21%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2579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Combined Residual + VT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0.17%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-0.37%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dirty="0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10.44%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1565436" y="850989"/>
            <a:ext cx="13069487" cy="144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PERFORMANCE COMPARISON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65436" y="2396215"/>
            <a:ext cx="1189148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Final strategy comparison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5436" y="8497295"/>
            <a:ext cx="1189148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Main message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65436" y="9140550"/>
            <a:ext cx="13919150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The refined strategies do not clearly dominate in terms of return, but they substantially reduce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871835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2756225" y="3048995"/>
            <a:ext cx="10687909" cy="5936003"/>
          </a:xfrm>
          <a:custGeom>
            <a:avLst/>
            <a:gdLst/>
            <a:ahLst/>
            <a:cxnLst/>
            <a:rect l="l" t="t" r="r" b="b"/>
            <a:pathLst>
              <a:path w="10687909" h="5936003">
                <a:moveTo>
                  <a:pt x="0" y="0"/>
                </a:moveTo>
                <a:lnTo>
                  <a:pt x="10687909" y="0"/>
                </a:lnTo>
                <a:lnTo>
                  <a:pt x="10687909" y="5936003"/>
                </a:lnTo>
                <a:lnTo>
                  <a:pt x="0" y="5936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65436" y="850989"/>
            <a:ext cx="13069487" cy="144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PERFORMANCE COMPARISON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65436" y="2396215"/>
            <a:ext cx="11891487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Volatility bar 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5436" y="9140550"/>
            <a:ext cx="13919150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The refined strategies do not clearly dominate in terms of return, but they substantially reduce risk.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10062499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565828" y="7044055"/>
            <a:ext cx="1849099" cy="2627919"/>
          </a:xfrm>
          <a:custGeom>
            <a:avLst/>
            <a:gdLst/>
            <a:ahLst/>
            <a:cxnLst/>
            <a:rect l="l" t="t" r="r" b="b"/>
            <a:pathLst>
              <a:path w="1849099" h="2627919">
                <a:moveTo>
                  <a:pt x="0" y="0"/>
                </a:moveTo>
                <a:lnTo>
                  <a:pt x="1849099" y="0"/>
                </a:lnTo>
                <a:lnTo>
                  <a:pt x="1849099" y="2627919"/>
                </a:lnTo>
                <a:lnTo>
                  <a:pt x="0" y="2627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65436" y="308345"/>
            <a:ext cx="12762654" cy="144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Crash - Risk Comparison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65436" y="8685819"/>
            <a:ext cx="11891487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Main message: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The combined strategy has the most defensive crash-risk profile.</a:t>
            </a:r>
          </a:p>
        </p:txBody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2864614" y="2841991"/>
          <a:ext cx="10164296" cy="5743575"/>
        </p:xfrm>
        <a:graphic>
          <a:graphicData uri="http://schemas.openxmlformats.org/drawingml/2006/table">
            <a:tbl>
              <a:tblPr/>
              <a:tblGrid>
                <a:gridCol w="2541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1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1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10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12247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Strategy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Max Drawdown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899" b="1">
                        <a:solidFill>
                          <a:srgbClr val="FFFFFF"/>
                        </a:solidFill>
                        <a:latin typeface="Muli Bold"/>
                        <a:ea typeface="Muli Bold"/>
                        <a:cs typeface="Muli Bold"/>
                        <a:sym typeface="Muli Bold"/>
                      </a:endParaRPr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899" b="1">
                        <a:solidFill>
                          <a:srgbClr val="FFFFFF"/>
                        </a:solidFill>
                        <a:latin typeface="Muli Bold"/>
                        <a:ea typeface="Muli Bold"/>
                        <a:cs typeface="Muli Bold"/>
                        <a:sym typeface="Muli Bold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Worst 1M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endParaRPr lang="en-US" sz="1899" b="1">
                        <a:solidFill>
                          <a:srgbClr val="FFFFFF"/>
                        </a:solidFill>
                        <a:latin typeface="Muli Bold"/>
                        <a:ea typeface="Muli Bold"/>
                        <a:cs typeface="Muli Bold"/>
                        <a:sym typeface="Muli Bold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Worst 3M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3797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Plain MOM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-82.47%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-47.30%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-66.33%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544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FF5 Residual MOM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-67.76%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-19.83%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-31.60%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104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Plain MOM VT No-Lev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-54.36%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-45.56%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-45.32%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104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Combined Residual + VT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-42.79%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-9.48%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-13.14%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20"/>
          <p:cNvSpPr txBox="1"/>
          <p:nvPr/>
        </p:nvSpPr>
        <p:spPr>
          <a:xfrm>
            <a:off x="1565436" y="1984914"/>
            <a:ext cx="6206964" cy="460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17415F"/>
                </a:solidFill>
                <a:latin typeface="Muli Bold"/>
                <a:ea typeface="Muli Bold"/>
                <a:cs typeface="Muli Bold"/>
                <a:sym typeface="Muli Bold"/>
              </a:rPr>
              <a:t>Final strategy comparison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10062499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565828" y="7044055"/>
            <a:ext cx="1849099" cy="2627919"/>
          </a:xfrm>
          <a:custGeom>
            <a:avLst/>
            <a:gdLst/>
            <a:ahLst/>
            <a:cxnLst/>
            <a:rect l="l" t="t" r="r" b="b"/>
            <a:pathLst>
              <a:path w="1849099" h="2627919">
                <a:moveTo>
                  <a:pt x="0" y="0"/>
                </a:moveTo>
                <a:lnTo>
                  <a:pt x="1849099" y="0"/>
                </a:lnTo>
                <a:lnTo>
                  <a:pt x="1849099" y="2627919"/>
                </a:lnTo>
                <a:lnTo>
                  <a:pt x="0" y="2627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346469" y="2751995"/>
            <a:ext cx="10981621" cy="6100900"/>
          </a:xfrm>
          <a:custGeom>
            <a:avLst/>
            <a:gdLst/>
            <a:ahLst/>
            <a:cxnLst/>
            <a:rect l="l" t="t" r="r" b="b"/>
            <a:pathLst>
              <a:path w="10981621" h="6100900">
                <a:moveTo>
                  <a:pt x="0" y="0"/>
                </a:moveTo>
                <a:lnTo>
                  <a:pt x="10981621" y="0"/>
                </a:lnTo>
                <a:lnTo>
                  <a:pt x="10981621" y="6100900"/>
                </a:lnTo>
                <a:lnTo>
                  <a:pt x="0" y="61009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65436" y="308345"/>
            <a:ext cx="12762654" cy="144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Crash - Risk Comparison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5436" y="8921757"/>
            <a:ext cx="11891487" cy="986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Main message: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17415F"/>
                </a:solidFill>
                <a:latin typeface="Quark"/>
                <a:ea typeface="Quark"/>
                <a:cs typeface="Quark"/>
                <a:sym typeface="Quark"/>
              </a:rPr>
              <a:t>The combined strategy has the most defensive crash-risk profile.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65436" y="1984914"/>
            <a:ext cx="5749764" cy="460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17415F"/>
                </a:solidFill>
                <a:latin typeface="Muli Bold"/>
                <a:ea typeface="Muli Bold"/>
                <a:cs typeface="Muli Bold"/>
                <a:sym typeface="Muli Bold"/>
              </a:rPr>
              <a:t>Final strategy 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879687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565828" y="7044055"/>
            <a:ext cx="1849099" cy="2627919"/>
          </a:xfrm>
          <a:custGeom>
            <a:avLst/>
            <a:gdLst/>
            <a:ahLst/>
            <a:cxnLst/>
            <a:rect l="l" t="t" r="r" b="b"/>
            <a:pathLst>
              <a:path w="1849099" h="2627919">
                <a:moveTo>
                  <a:pt x="0" y="0"/>
                </a:moveTo>
                <a:lnTo>
                  <a:pt x="1849099" y="0"/>
                </a:lnTo>
                <a:lnTo>
                  <a:pt x="1849099" y="2627919"/>
                </a:lnTo>
                <a:lnTo>
                  <a:pt x="0" y="2627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65436" y="139672"/>
            <a:ext cx="12762654" cy="144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 dirty="0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Factor Exposure Analysis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65436" y="6329045"/>
            <a:ext cx="11891487" cy="4001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 dirty="0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Interpretation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Residualisation</a:t>
            </a:r>
            <a:r>
              <a:rPr lang="en-US" sz="2799" b="1" dirty="0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 reduces factor exposure: from -0.649 to -0.338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 dirty="0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The combined strategy has the lowest absolute market beta: - 0.185.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 dirty="0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FF5 R² decreases after </a:t>
            </a:r>
            <a:r>
              <a:rPr lang="en-US" sz="2799" b="1" dirty="0" err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residualisation</a:t>
            </a:r>
            <a:r>
              <a:rPr lang="en-US" sz="2799" b="1" dirty="0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 dirty="0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Alpha evidence is not statistically strong.</a:t>
            </a:r>
          </a:p>
          <a:p>
            <a:pPr algn="just">
              <a:lnSpc>
                <a:spcPts val="3919"/>
              </a:lnSpc>
            </a:pPr>
            <a:r>
              <a:rPr lang="en-US" sz="2799" b="1" dirty="0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Main message</a:t>
            </a:r>
          </a:p>
          <a:p>
            <a:pPr algn="just">
              <a:lnSpc>
                <a:spcPts val="3919"/>
              </a:lnSpc>
            </a:pPr>
            <a:r>
              <a:rPr lang="en-US" sz="2799" b="1" dirty="0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The improvement is mainly risk-based, not alpha-based.</a:t>
            </a:r>
          </a:p>
          <a:p>
            <a:pPr algn="just">
              <a:lnSpc>
                <a:spcPts val="3919"/>
              </a:lnSpc>
            </a:pPr>
            <a:endParaRPr lang="en-US" sz="2799" b="1" dirty="0">
              <a:solidFill>
                <a:srgbClr val="17415F"/>
              </a:solidFill>
              <a:latin typeface="Quark Bold"/>
              <a:ea typeface="Quark Bold"/>
              <a:cs typeface="Quark Bold"/>
              <a:sym typeface="Quark Bold"/>
            </a:endParaRPr>
          </a:p>
        </p:txBody>
      </p:sp>
      <p:graphicFrame>
        <p:nvGraphicFramePr>
          <p:cNvPr id="19" name="Table 19"/>
          <p:cNvGraphicFramePr>
            <a:graphicFrameLocks noGrp="1"/>
          </p:cNvGraphicFramePr>
          <p:nvPr/>
        </p:nvGraphicFramePr>
        <p:xfrm>
          <a:off x="1565436" y="2550074"/>
          <a:ext cx="10164297" cy="3643883"/>
        </p:xfrm>
        <a:graphic>
          <a:graphicData uri="http://schemas.openxmlformats.org/drawingml/2006/table">
            <a:tbl>
              <a:tblPr/>
              <a:tblGrid>
                <a:gridCol w="3388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8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8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211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Quark Bold"/>
                          <a:ea typeface="Quark Bold"/>
                          <a:cs typeface="Quark Bold"/>
                          <a:sym typeface="Quark Bold"/>
                        </a:rPr>
                        <a:t>Strategy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Market Beta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FFFFFF"/>
                          </a:solidFill>
                          <a:latin typeface="Muli Bold"/>
                          <a:ea typeface="Muli Bold"/>
                          <a:cs typeface="Muli Bold"/>
                          <a:sym typeface="Muli Bold"/>
                        </a:rPr>
                        <a:t>FF5 R²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998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Plain MOM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-0.649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Quark"/>
                          <a:ea typeface="Quark"/>
                          <a:cs typeface="Quark"/>
                          <a:sym typeface="Quark"/>
                        </a:rPr>
                        <a:t>0.211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554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FF5 Residual MOM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-0.338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0.130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1216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Combined Residual + VT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-0.185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Muli"/>
                          <a:ea typeface="Muli"/>
                          <a:cs typeface="Muli"/>
                          <a:sym typeface="Muli"/>
                        </a:rPr>
                        <a:t>0.110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20"/>
          <p:cNvSpPr txBox="1"/>
          <p:nvPr/>
        </p:nvSpPr>
        <p:spPr>
          <a:xfrm>
            <a:off x="1028700" y="1607532"/>
            <a:ext cx="4911564" cy="460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17415F"/>
                </a:solidFill>
                <a:latin typeface="Muli Bold"/>
                <a:ea typeface="Muli Bold"/>
                <a:cs typeface="Muli Bold"/>
                <a:sym typeface="Muli Bold"/>
              </a:rPr>
              <a:t>FF5 regression result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879687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822668" y="7423924"/>
            <a:ext cx="1849099" cy="2627919"/>
          </a:xfrm>
          <a:custGeom>
            <a:avLst/>
            <a:gdLst/>
            <a:ahLst/>
            <a:cxnLst/>
            <a:rect l="l" t="t" r="r" b="b"/>
            <a:pathLst>
              <a:path w="1849099" h="2627919">
                <a:moveTo>
                  <a:pt x="0" y="0"/>
                </a:moveTo>
                <a:lnTo>
                  <a:pt x="1849099" y="0"/>
                </a:lnTo>
                <a:lnTo>
                  <a:pt x="1849099" y="2627920"/>
                </a:lnTo>
                <a:lnTo>
                  <a:pt x="0" y="2627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18996" y="3060344"/>
            <a:ext cx="7527767" cy="4166311"/>
          </a:xfrm>
          <a:custGeom>
            <a:avLst/>
            <a:gdLst/>
            <a:ahLst/>
            <a:cxnLst/>
            <a:rect l="l" t="t" r="r" b="b"/>
            <a:pathLst>
              <a:path w="7527767" h="4166311">
                <a:moveTo>
                  <a:pt x="0" y="0"/>
                </a:moveTo>
                <a:lnTo>
                  <a:pt x="7527767" y="0"/>
                </a:lnTo>
                <a:lnTo>
                  <a:pt x="7527767" y="4166312"/>
                </a:lnTo>
                <a:lnTo>
                  <a:pt x="0" y="41663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800309" y="3067113"/>
            <a:ext cx="7527767" cy="4166311"/>
          </a:xfrm>
          <a:custGeom>
            <a:avLst/>
            <a:gdLst/>
            <a:ahLst/>
            <a:cxnLst/>
            <a:rect l="l" t="t" r="r" b="b"/>
            <a:pathLst>
              <a:path w="7527767" h="4166311">
                <a:moveTo>
                  <a:pt x="0" y="0"/>
                </a:moveTo>
                <a:lnTo>
                  <a:pt x="7527767" y="0"/>
                </a:lnTo>
                <a:lnTo>
                  <a:pt x="7527767" y="4166311"/>
                </a:lnTo>
                <a:lnTo>
                  <a:pt x="0" y="4166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65436" y="139671"/>
            <a:ext cx="12762654" cy="144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Factor Exposure 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65436" y="8190519"/>
            <a:ext cx="12560781" cy="148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Main message</a:t>
            </a:r>
          </a:p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17415F"/>
                </a:solidFill>
                <a:latin typeface="Quark Bold"/>
                <a:ea typeface="Quark Bold"/>
                <a:cs typeface="Quark Bold"/>
                <a:sym typeface="Quark Bold"/>
              </a:rPr>
              <a:t>Residualisation reduces factor exposure, while alpha evidence is not statistically strong.</a:t>
            </a:r>
          </a:p>
          <a:p>
            <a:pPr algn="just">
              <a:lnSpc>
                <a:spcPts val="3919"/>
              </a:lnSpc>
            </a:pPr>
            <a:endParaRPr lang="en-US" sz="2799" b="1">
              <a:solidFill>
                <a:srgbClr val="17415F"/>
              </a:solidFill>
              <a:latin typeface="Quark Bold"/>
              <a:ea typeface="Quark Bold"/>
              <a:cs typeface="Quark Bold"/>
              <a:sym typeface="Quark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1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628904"/>
            <a:ext cx="20019890" cy="0"/>
          </a:xfrm>
          <a:prstGeom prst="line">
            <a:avLst/>
          </a:prstGeom>
          <a:ln w="38100" cap="flat">
            <a:solidFill>
              <a:srgbClr val="F0F7FE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F0F7FE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915866" y="-251526"/>
            <a:ext cx="1764194" cy="4014219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915866" y="-1975557"/>
            <a:ext cx="1764194" cy="3883035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611427" y="-251526"/>
            <a:ext cx="1764194" cy="4014219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611427" y="-1975557"/>
            <a:ext cx="1764194" cy="3883035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189906" y="7229219"/>
            <a:ext cx="2725960" cy="2527708"/>
          </a:xfrm>
          <a:custGeom>
            <a:avLst/>
            <a:gdLst/>
            <a:ahLst/>
            <a:cxnLst/>
            <a:rect l="l" t="t" r="r" b="b"/>
            <a:pathLst>
              <a:path w="2725960" h="2527708">
                <a:moveTo>
                  <a:pt x="0" y="0"/>
                </a:moveTo>
                <a:lnTo>
                  <a:pt x="2725960" y="0"/>
                </a:lnTo>
                <a:lnTo>
                  <a:pt x="2725960" y="2527709"/>
                </a:lnTo>
                <a:lnTo>
                  <a:pt x="0" y="2527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65436" y="236230"/>
            <a:ext cx="12430329" cy="2472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83"/>
              </a:lnSpc>
            </a:pPr>
            <a:r>
              <a:rPr lang="en-US" sz="8003" b="1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Main Findings, Limitations and Conclusion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03094" y="2908856"/>
            <a:ext cx="11891487" cy="6929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Main findings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Plain momentum shows severe crash risk.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FF5 residual momentum reduces factor exposure.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No-leverage volatility targeting reduces volatility and drawdowns.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The combined strategy has the most defensive risk profile.</a:t>
            </a:r>
          </a:p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Limitations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Results are sample-specific.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Monthly S&amp;P 500 data only.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Duplicate securities are reported but not manually consolidated.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Transaction costs are not explicitly modelled.</a:t>
            </a:r>
          </a:p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Conclusion</a:t>
            </a:r>
          </a:p>
          <a:p>
            <a:pPr algn="just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Quark Bold"/>
                <a:ea typeface="Quark Bold"/>
                <a:cs typeface="Quark Bold"/>
                <a:sym typeface="Quark Bold"/>
              </a:rPr>
              <a:t>Residualisation and volatility targeting are more effective at improving the risk profile of momentum than at generating clearly superior abnormal returns.</a:t>
            </a:r>
          </a:p>
          <a:p>
            <a:pPr algn="just">
              <a:lnSpc>
                <a:spcPts val="3919"/>
              </a:lnSpc>
            </a:pPr>
            <a:endParaRPr lang="en-US" sz="2799" b="1">
              <a:solidFill>
                <a:srgbClr val="FFFFFF"/>
              </a:solidFill>
              <a:latin typeface="Quark Bold"/>
              <a:ea typeface="Quark Bold"/>
              <a:cs typeface="Quark Bold"/>
              <a:sym typeface="Quark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65436" y="9239250"/>
            <a:ext cx="20019890" cy="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 flipV="1">
            <a:off x="624662" y="-18432980"/>
            <a:ext cx="0" cy="20019890"/>
          </a:xfrm>
          <a:prstGeom prst="line">
            <a:avLst/>
          </a:prstGeom>
          <a:ln w="38100" cap="flat">
            <a:solidFill>
              <a:srgbClr val="17415F"/>
            </a:solidFill>
            <a:prstDash val="solid"/>
            <a:headEnd type="diamond" w="lg" len="lg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6042557" y="-380448"/>
            <a:ext cx="3086100" cy="7022063"/>
            <a:chOff x="0" y="0"/>
            <a:chExt cx="812800" cy="18494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5284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042557" y="-3396291"/>
            <a:ext cx="3086100" cy="6792583"/>
            <a:chOff x="0" y="0"/>
            <a:chExt cx="812800" cy="17889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F0F7F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259300" y="-380448"/>
            <a:ext cx="3086100" cy="7022063"/>
            <a:chOff x="0" y="0"/>
            <a:chExt cx="812800" cy="18494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1849432"/>
            </a:xfrm>
            <a:custGeom>
              <a:avLst/>
              <a:gdLst/>
              <a:ahLst/>
              <a:cxnLst/>
              <a:rect l="l" t="t" r="r" b="b"/>
              <a:pathLst>
                <a:path w="812800" h="1849432">
                  <a:moveTo>
                    <a:pt x="0" y="0"/>
                  </a:moveTo>
                  <a:lnTo>
                    <a:pt x="812800" y="0"/>
                  </a:lnTo>
                  <a:lnTo>
                    <a:pt x="812800" y="1849432"/>
                  </a:lnTo>
                  <a:lnTo>
                    <a:pt x="0" y="1849432"/>
                  </a:ln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18875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259300" y="-3396291"/>
            <a:ext cx="3086100" cy="6792583"/>
            <a:chOff x="0" y="0"/>
            <a:chExt cx="812800" cy="178899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1788993"/>
            </a:xfrm>
            <a:custGeom>
              <a:avLst/>
              <a:gdLst/>
              <a:ahLst/>
              <a:cxnLst/>
              <a:rect l="l" t="t" r="r" b="b"/>
              <a:pathLst>
                <a:path w="812800" h="1788993">
                  <a:moveTo>
                    <a:pt x="0" y="0"/>
                  </a:moveTo>
                  <a:lnTo>
                    <a:pt x="812800" y="0"/>
                  </a:lnTo>
                  <a:lnTo>
                    <a:pt x="812800" y="1788993"/>
                  </a:lnTo>
                  <a:lnTo>
                    <a:pt x="0" y="1788993"/>
                  </a:lnTo>
                  <a:close/>
                </a:path>
              </a:pathLst>
            </a:custGeom>
            <a:solidFill>
              <a:srgbClr val="17415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12800" cy="18270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flipH="1">
            <a:off x="3064867" y="6405372"/>
            <a:ext cx="3771794" cy="4199366"/>
          </a:xfrm>
          <a:custGeom>
            <a:avLst/>
            <a:gdLst/>
            <a:ahLst/>
            <a:cxnLst/>
            <a:rect l="l" t="t" r="r" b="b"/>
            <a:pathLst>
              <a:path w="3771794" h="4199366">
                <a:moveTo>
                  <a:pt x="3771794" y="0"/>
                </a:moveTo>
                <a:lnTo>
                  <a:pt x="0" y="0"/>
                </a:lnTo>
                <a:lnTo>
                  <a:pt x="0" y="4199365"/>
                </a:lnTo>
                <a:lnTo>
                  <a:pt x="3771794" y="4199365"/>
                </a:lnTo>
                <a:lnTo>
                  <a:pt x="37717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65436" y="1325159"/>
            <a:ext cx="10390539" cy="3780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12"/>
              </a:lnSpc>
            </a:pPr>
            <a:r>
              <a:rPr lang="en-US" sz="12190" b="1">
                <a:solidFill>
                  <a:srgbClr val="17415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Thank You!</a:t>
            </a:r>
          </a:p>
          <a:p>
            <a:pPr algn="l">
              <a:lnSpc>
                <a:spcPts val="12312"/>
              </a:lnSpc>
            </a:pPr>
            <a:endParaRPr lang="en-US" sz="12190" b="1">
              <a:solidFill>
                <a:srgbClr val="17415F"/>
              </a:solidFill>
              <a:latin typeface="Karnchang SemiCondensed Bold"/>
              <a:ea typeface="Karnchang SemiCondensed Bold"/>
              <a:cs typeface="Karnchang SemiCondensed Bold"/>
              <a:sym typeface="Karnchang SemiCondensed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867</Words>
  <Application>Microsoft Office PowerPoint</Application>
  <PresentationFormat>Custom</PresentationFormat>
  <Paragraphs>179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Karnchang SemiCondensed Bold</vt:lpstr>
      <vt:lpstr>Muli</vt:lpstr>
      <vt:lpstr>Arial</vt:lpstr>
      <vt:lpstr>Muli Bold</vt:lpstr>
      <vt:lpstr>Quark</vt:lpstr>
      <vt:lpstr>Quark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Minimalist Illustrative Financial Report Presentation</dc:title>
  <cp:lastModifiedBy>Herve' Mottaran</cp:lastModifiedBy>
  <cp:revision>5</cp:revision>
  <dcterms:created xsi:type="dcterms:W3CDTF">2006-08-16T00:00:00Z</dcterms:created>
  <dcterms:modified xsi:type="dcterms:W3CDTF">2026-08-20T10:08:53Z</dcterms:modified>
  <dc:identifier>DAHNZBDJd_M</dc:identifier>
</cp:coreProperties>
</file>